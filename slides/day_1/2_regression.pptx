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 autoAdjust="0"/>
    <p:restoredTop sz="84384" autoAdjust="0"/>
  </p:normalViewPr>
  <p:slideViewPr>
    <p:cSldViewPr snapToGrid="0">
      <p:cViewPr varScale="1">
        <p:scale>
          <a:sx n="94" d="100"/>
          <a:sy n="94" d="100"/>
        </p:scale>
        <p:origin x="1454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A53F8-D549-4BCE-B564-8781C50B17EE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A3EDD-0C93-40A6-9F41-D9489E55BD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672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17D7B-CB71-4D74-BCF4-0A1399F0396F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5511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17D7B-CB71-4D74-BCF4-0A1399F0396F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4436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0617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4508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9749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2337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477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2402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0029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6609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8801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A3EDD-0C93-40A6-9F41-D9489E55BD1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307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A3EDD-0C93-40A6-9F41-D9489E55BD1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29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22897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7371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0985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612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53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51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7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08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27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622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639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63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65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8CBC-0603-47A6-97E2-86255A82367C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14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18CBC-0603-47A6-97E2-86255A82367C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32223-F218-465C-A007-51E7110B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69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4937" y="5234156"/>
            <a:ext cx="94397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Regression is a general term for </a:t>
            </a:r>
            <a:r>
              <a:rPr lang="en-US" sz="2000" b="1" dirty="0"/>
              <a:t>modeling the relationship</a:t>
            </a:r>
            <a:r>
              <a:rPr lang="en-US" sz="2000" dirty="0"/>
              <a:t> between a </a:t>
            </a:r>
            <a:r>
              <a:rPr lang="en-US" sz="2000" b="1" dirty="0"/>
              <a:t>label</a:t>
            </a:r>
            <a:r>
              <a:rPr lang="en-US" sz="2000" dirty="0"/>
              <a:t> </a:t>
            </a:r>
          </a:p>
          <a:p>
            <a:r>
              <a:rPr lang="en-US" sz="2000" dirty="0"/>
              <a:t>(a.k.a. dependent variable or target) and one or more </a:t>
            </a:r>
            <a:r>
              <a:rPr lang="en-US" sz="2000" b="1" dirty="0"/>
              <a:t>features</a:t>
            </a:r>
            <a:r>
              <a:rPr lang="en-US" sz="2000" dirty="0"/>
              <a:t> (a.k.a. the attributes, the independent or explanatory variable(s)).</a:t>
            </a:r>
            <a:endParaRPr lang="en-GB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6962766" y="1974845"/>
            <a:ext cx="31851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Can BMI explain Y?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Can BMI predict Y?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How does Y vary with BMI?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FF1BE-ED64-2280-A163-BD846C39B6E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AC6B8EB3-1C31-1511-C693-11C026336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691" y="1172187"/>
            <a:ext cx="5111506" cy="391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797439" y="2575001"/>
            <a:ext cx="4114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alibri" panose="020F0502020204030204" pitchFamily="34" charset="0"/>
              </a:rPr>
              <a:t>We need to make </a:t>
            </a:r>
          </a:p>
          <a:p>
            <a:pPr algn="ctr"/>
            <a:r>
              <a:rPr lang="nl-NL" sz="4000" dirty="0">
                <a:latin typeface="Calibri" panose="020F0502020204030204" pitchFamily="34" charset="0"/>
              </a:rPr>
              <a:t>assumptions </a:t>
            </a:r>
          </a:p>
          <a:p>
            <a:pPr algn="ctr"/>
            <a:r>
              <a:rPr lang="nl-NL" dirty="0">
                <a:latin typeface="Calibri" panose="020F0502020204030204" pitchFamily="34" charset="0"/>
              </a:rPr>
              <a:t>about the </a:t>
            </a:r>
          </a:p>
          <a:p>
            <a:pPr algn="ctr"/>
            <a:r>
              <a:rPr lang="nl-NL" sz="4400" dirty="0">
                <a:latin typeface="Calibri" panose="020F0502020204030204" pitchFamily="34" charset="0"/>
              </a:rPr>
              <a:t>model </a:t>
            </a:r>
          </a:p>
          <a:p>
            <a:pPr algn="ctr"/>
            <a:r>
              <a:rPr lang="nl-NL" dirty="0">
                <a:latin typeface="Calibri" panose="020F0502020204030204" pitchFamily="34" charset="0"/>
              </a:rPr>
              <a:t>that generated the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274" y="2968013"/>
            <a:ext cx="203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>
                <a:latin typeface="Freestyle Script" panose="030804020302050B0404" pitchFamily="66" charset="0"/>
              </a:rPr>
              <a:t>linear relationship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4050" y="3843033"/>
            <a:ext cx="203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>
                <a:latin typeface="Freestyle Script" panose="030804020302050B0404" pitchFamily="66" charset="0"/>
              </a:rPr>
              <a:t>linear model</a:t>
            </a:r>
          </a:p>
        </p:txBody>
      </p:sp>
      <p:sp>
        <p:nvSpPr>
          <p:cNvPr id="15" name="Arc 14"/>
          <p:cNvSpPr/>
          <p:nvPr/>
        </p:nvSpPr>
        <p:spPr>
          <a:xfrm rot="7582954">
            <a:off x="9211093" y="3019596"/>
            <a:ext cx="403122" cy="544156"/>
          </a:xfrm>
          <a:prstGeom prst="arc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Arc 15"/>
          <p:cNvSpPr/>
          <p:nvPr/>
        </p:nvSpPr>
        <p:spPr>
          <a:xfrm rot="7582954">
            <a:off x="8704731" y="3871593"/>
            <a:ext cx="403122" cy="544156"/>
          </a:xfrm>
          <a:prstGeom prst="arc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AD36E7FF-7D9B-E101-3DF7-6D87D35CC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158" y="1590714"/>
            <a:ext cx="5111506" cy="3913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C30759-B1BD-CAA3-8C2B-4FEFF4A3B8C6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linear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88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00F5863F-0BA7-D0A8-6D8B-1AAE6FD31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55" y="1702897"/>
            <a:ext cx="5111506" cy="39136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583" y="1867673"/>
            <a:ext cx="4191000" cy="68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66840" y="2906236"/>
            <a:ext cx="4932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Calibri" panose="020F0502020204030204" pitchFamily="34" charset="0"/>
              </a:rPr>
              <a:t>a</a:t>
            </a:r>
            <a:r>
              <a:rPr lang="en-GB" dirty="0">
                <a:latin typeface="Calibri" panose="020F0502020204030204" pitchFamily="34" charset="0"/>
              </a:rPr>
              <a:t> and </a:t>
            </a:r>
            <a:r>
              <a:rPr lang="en-GB" i="1" dirty="0">
                <a:latin typeface="Calibri" panose="020F0502020204030204" pitchFamily="34" charset="0"/>
              </a:rPr>
              <a:t>b</a:t>
            </a:r>
            <a:r>
              <a:rPr lang="en-GB" dirty="0">
                <a:latin typeface="Calibri" panose="020F0502020204030204" pitchFamily="34" charset="0"/>
              </a:rPr>
              <a:t> are </a:t>
            </a:r>
            <a:r>
              <a:rPr lang="en-GB" b="1" dirty="0">
                <a:latin typeface="Calibri" panose="020F0502020204030204" pitchFamily="34" charset="0"/>
              </a:rPr>
              <a:t>model parameters</a:t>
            </a:r>
            <a:r>
              <a:rPr lang="en-GB" dirty="0">
                <a:latin typeface="Calibri" panose="020F0502020204030204" pitchFamily="34" charset="0"/>
              </a:rPr>
              <a:t> 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i="1" dirty="0">
                <a:latin typeface="Calibri" panose="020F0502020204030204" pitchFamily="34" charset="0"/>
              </a:rPr>
              <a:t>a</a:t>
            </a:r>
            <a:r>
              <a:rPr lang="en-GB" dirty="0">
                <a:latin typeface="Calibri" panose="020F0502020204030204" pitchFamily="34" charset="0"/>
              </a:rPr>
              <a:t> is the </a:t>
            </a:r>
            <a:r>
              <a:rPr lang="en-GB" b="1" dirty="0">
                <a:latin typeface="Calibri" panose="020F0502020204030204" pitchFamily="34" charset="0"/>
              </a:rPr>
              <a:t>slope</a:t>
            </a:r>
            <a:r>
              <a:rPr lang="en-GB" dirty="0">
                <a:latin typeface="Calibri" panose="020F0502020204030204" pitchFamily="34" charset="0"/>
              </a:rPr>
              <a:t> to the line (direction)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i="1" dirty="0">
                <a:latin typeface="Calibri" panose="020F0502020204030204" pitchFamily="34" charset="0"/>
              </a:rPr>
              <a:t>b</a:t>
            </a:r>
            <a:r>
              <a:rPr lang="en-GB" dirty="0">
                <a:latin typeface="Calibri" panose="020F0502020204030204" pitchFamily="34" charset="0"/>
              </a:rPr>
              <a:t> is the </a:t>
            </a:r>
            <a:r>
              <a:rPr lang="en-GB" b="1" dirty="0">
                <a:latin typeface="Calibri" panose="020F0502020204030204" pitchFamily="34" charset="0"/>
              </a:rPr>
              <a:t>intercept</a:t>
            </a:r>
            <a:r>
              <a:rPr lang="en-GB" dirty="0">
                <a:latin typeface="Calibri" panose="020F0502020204030204" pitchFamily="34" charset="0"/>
              </a:rPr>
              <a:t> or bias (position)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F014C9-97C1-6488-7958-5ABF2919CC51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linear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750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403340" y="2271236"/>
            <a:ext cx="49326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BMI(70kg, 1.8 meter) = 21.6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scaled data!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scaled BMI = -1.08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predicted value = -0.34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</a:rPr>
              <a:t>generalization</a:t>
            </a:r>
            <a:r>
              <a:rPr lang="en-GB" dirty="0">
                <a:latin typeface="Calibri" panose="020F0502020204030204" pitchFamily="34" charset="0"/>
              </a:rPr>
              <a:t>!!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C6E6B-FED1-32ED-DE31-BB1034F20494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linear regression: prediction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7A7FEB31-87B7-A9D5-A987-E2E5A8EDF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35" y="1706425"/>
            <a:ext cx="5111506" cy="39136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CBF0A3-501E-5804-C67D-B5348911E32A}"/>
              </a:ext>
            </a:extLst>
          </p:cNvPr>
          <p:cNvCxnSpPr/>
          <p:nvPr/>
        </p:nvCxnSpPr>
        <p:spPr>
          <a:xfrm>
            <a:off x="1924756" y="4075289"/>
            <a:ext cx="0" cy="110066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41FB28-8666-E42A-E83A-F7AC66E472EB}"/>
              </a:ext>
            </a:extLst>
          </p:cNvPr>
          <p:cNvCxnSpPr>
            <a:cxnSpLocks/>
          </p:cNvCxnSpPr>
          <p:nvPr/>
        </p:nvCxnSpPr>
        <p:spPr>
          <a:xfrm flipH="1">
            <a:off x="1095023" y="4052712"/>
            <a:ext cx="739422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04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175861" y="2130975"/>
            <a:ext cx="4932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What values for </a:t>
            </a:r>
            <a:r>
              <a:rPr lang="en-GB" i="1" dirty="0">
                <a:latin typeface="Calibri" panose="020F0502020204030204" pitchFamily="34" charset="0"/>
              </a:rPr>
              <a:t>a</a:t>
            </a:r>
            <a:r>
              <a:rPr lang="en-GB" dirty="0">
                <a:latin typeface="Calibri" panose="020F0502020204030204" pitchFamily="34" charset="0"/>
              </a:rPr>
              <a:t> and </a:t>
            </a:r>
            <a:r>
              <a:rPr lang="en-GB" i="1" dirty="0">
                <a:latin typeface="Calibri" panose="020F0502020204030204" pitchFamily="34" charset="0"/>
              </a:rPr>
              <a:t>b</a:t>
            </a:r>
            <a:r>
              <a:rPr lang="en-GB" dirty="0">
                <a:latin typeface="Calibri" panose="020F0502020204030204" pitchFamily="34" charset="0"/>
              </a:rPr>
              <a:t> fit the data best?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How can we evaluate them?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</p:txBody>
      </p:sp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38E604C2-50F7-B7FA-EF8D-38C8F2D76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55" y="1702897"/>
            <a:ext cx="5111506" cy="3913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C1FFBB-740A-1AFF-2AF2-0432F041C87F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linear regression: fitting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4FCCD0-6D5C-2778-DF99-9128E16CAE3B}"/>
              </a:ext>
            </a:extLst>
          </p:cNvPr>
          <p:cNvCxnSpPr/>
          <p:nvPr/>
        </p:nvCxnSpPr>
        <p:spPr>
          <a:xfrm flipV="1">
            <a:off x="1382889" y="1890889"/>
            <a:ext cx="3651955" cy="2906889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274ECE-6826-CD7C-6A24-AC9CF9B59F2C}"/>
              </a:ext>
            </a:extLst>
          </p:cNvPr>
          <p:cNvCxnSpPr>
            <a:cxnSpLocks/>
          </p:cNvCxnSpPr>
          <p:nvPr/>
        </p:nvCxnSpPr>
        <p:spPr>
          <a:xfrm flipV="1">
            <a:off x="1315156" y="2607733"/>
            <a:ext cx="3922888" cy="1422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37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851" y="5763492"/>
            <a:ext cx="1247775" cy="4476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4188" y="5645464"/>
            <a:ext cx="2181225" cy="8763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394" y="852482"/>
            <a:ext cx="3220010" cy="8262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715" y="887604"/>
            <a:ext cx="2558886" cy="8431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5C175-1C73-D790-B022-5DF73A503328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linear regression: fitting (coefficient of determination)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22FFD3B0-B795-870F-3B29-5C198CAF36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6" y="1731824"/>
            <a:ext cx="5111506" cy="3913640"/>
          </a:xfrm>
          <a:prstGeom prst="rect">
            <a:avLst/>
          </a:prstGeom>
        </p:spPr>
      </p:pic>
      <p:pic>
        <p:nvPicPr>
          <p:cNvPr id="10" name="Picture 9" descr="Chart&#10;&#10;Description automatically generated">
            <a:extLst>
              <a:ext uri="{FF2B5EF4-FFF2-40B4-BE49-F238E27FC236}">
                <a16:creationId xmlns:a16="http://schemas.microsoft.com/office/drawing/2014/main" id="{7D55235E-35D2-8C2F-D733-F290291156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952" y="1731824"/>
            <a:ext cx="5111506" cy="391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15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hart, scatter chart&#10;&#10;Description automatically generated">
            <a:extLst>
              <a:ext uri="{FF2B5EF4-FFF2-40B4-BE49-F238E27FC236}">
                <a16:creationId xmlns:a16="http://schemas.microsoft.com/office/drawing/2014/main" id="{4923782E-8DF5-F0F1-D946-F9A753A22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665" y="1411744"/>
            <a:ext cx="5111506" cy="391364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11776" y="1691383"/>
            <a:ext cx="1291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5758" y="2881311"/>
            <a:ext cx="2654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Learning Algorithm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187" y="4066095"/>
            <a:ext cx="1085850" cy="619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8991" y="4199446"/>
            <a:ext cx="428625" cy="352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569" y="4209278"/>
            <a:ext cx="333375" cy="39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201758" y="1543785"/>
            <a:ext cx="3111908" cy="76714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ounded Rectangle 10"/>
          <p:cNvSpPr/>
          <p:nvPr/>
        </p:nvSpPr>
        <p:spPr>
          <a:xfrm>
            <a:off x="2227158" y="2728571"/>
            <a:ext cx="3111908" cy="76714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ounded Rectangle 11"/>
          <p:cNvSpPr/>
          <p:nvPr/>
        </p:nvSpPr>
        <p:spPr>
          <a:xfrm>
            <a:off x="2888376" y="3992085"/>
            <a:ext cx="1789472" cy="76714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ight Arrow 12"/>
          <p:cNvSpPr/>
          <p:nvPr/>
        </p:nvSpPr>
        <p:spPr>
          <a:xfrm rot="5400000">
            <a:off x="3571718" y="2369696"/>
            <a:ext cx="422788" cy="29496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ight Arrow 13"/>
          <p:cNvSpPr/>
          <p:nvPr/>
        </p:nvSpPr>
        <p:spPr>
          <a:xfrm rot="5400000">
            <a:off x="3534926" y="3596416"/>
            <a:ext cx="496371" cy="29496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ight Arrow 14"/>
          <p:cNvSpPr/>
          <p:nvPr/>
        </p:nvSpPr>
        <p:spPr>
          <a:xfrm>
            <a:off x="2455758" y="4256903"/>
            <a:ext cx="422788" cy="29496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ight Arrow 16"/>
          <p:cNvSpPr/>
          <p:nvPr/>
        </p:nvSpPr>
        <p:spPr>
          <a:xfrm>
            <a:off x="4687678" y="4256903"/>
            <a:ext cx="422788" cy="29496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5566" y="1411744"/>
            <a:ext cx="2543175" cy="5048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1301" y="2799752"/>
            <a:ext cx="203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>
                <a:latin typeface="Freestyle Script" panose="030804020302050B0404" pitchFamily="66" charset="0"/>
              </a:rPr>
              <a:t>linear regression</a:t>
            </a:r>
          </a:p>
        </p:txBody>
      </p:sp>
      <p:sp>
        <p:nvSpPr>
          <p:cNvPr id="22" name="Arc 21"/>
          <p:cNvSpPr/>
          <p:nvPr/>
        </p:nvSpPr>
        <p:spPr>
          <a:xfrm rot="7582954">
            <a:off x="1710190" y="2814705"/>
            <a:ext cx="399694" cy="493313"/>
          </a:xfrm>
          <a:prstGeom prst="arc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731" y="5010758"/>
            <a:ext cx="6459472" cy="7854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EAD717-6FA4-D6B8-7E6B-455915C5DD1C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linear regression: formalized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213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502" y="998371"/>
            <a:ext cx="7997731" cy="513722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39" y="2895474"/>
            <a:ext cx="2705100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0FDBD2-BD30-6C61-DC0E-42FC0F4CADF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linear regression: cost (loss function)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514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1" y="5273279"/>
            <a:ext cx="4457700" cy="762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49" y="1249052"/>
            <a:ext cx="5805632" cy="37291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424" y="1249052"/>
            <a:ext cx="3710833" cy="36391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5080" y="4670297"/>
            <a:ext cx="347194" cy="4358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3916" y="2670288"/>
            <a:ext cx="1156914" cy="494159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7799294" y="3848847"/>
            <a:ext cx="152997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9329271" y="3848847"/>
            <a:ext cx="5976" cy="68131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861AB5E-DEF8-C899-9A52-FD16FE93A9A9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linear regression: cost (loss function)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889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23098" y="1632136"/>
            <a:ext cx="1019585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</a:rPr>
              <a:t>Fit a linear model</a:t>
            </a: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</a:rPr>
              <a:t>to the data set such that the cost function</a:t>
            </a: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</a:rPr>
              <a:t>is minimal.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566" y="2150399"/>
            <a:ext cx="6391275" cy="7810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178" y="3715470"/>
            <a:ext cx="4210050" cy="1028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29CFE7-6F4D-1049-ED8A-C2C91C19BCF9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linear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878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Public\Documents\ml-class\lectures-slides\assets\2.bow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17" y="1128259"/>
            <a:ext cx="5785572" cy="454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2064" y="1551929"/>
            <a:ext cx="5277836" cy="395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4ED5E5-F1E2-CC30-83C3-BC2A085408B6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linear regression: cost (loss function)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61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613" y="785160"/>
            <a:ext cx="9286875" cy="1676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732" y="2762662"/>
            <a:ext cx="3478306" cy="34400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896" y="2762662"/>
            <a:ext cx="3641538" cy="34808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057" y="3694074"/>
            <a:ext cx="1955786" cy="10750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CE728C-E1D1-08B1-F0CB-B4636E8A9002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gradient descent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284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077" y="1742981"/>
            <a:ext cx="4343400" cy="33242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968" y="1911162"/>
            <a:ext cx="2999908" cy="28799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8245" y="1911349"/>
            <a:ext cx="3120489" cy="2879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6752D4-EE48-D015-ED61-97F2639E51FC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gradient descent: learning rate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81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021" y="4323731"/>
            <a:ext cx="371475" cy="39052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794" y="4317425"/>
            <a:ext cx="619125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6840" y="1499489"/>
            <a:ext cx="1235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latin typeface="Calibri" panose="020F0502020204030204" pitchFamily="34" charset="0"/>
              </a:rPr>
              <a:t>model: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202" y="2359880"/>
            <a:ext cx="2112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latin typeface="Calibri" panose="020F0502020204030204" pitchFamily="34" charset="0"/>
              </a:rPr>
              <a:t>cost function: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5560" y="3212048"/>
            <a:ext cx="958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latin typeface="Calibri" panose="020F0502020204030204" pitchFamily="34" charset="0"/>
              </a:rPr>
              <a:t>Goal: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9561" y="1439063"/>
            <a:ext cx="5429250" cy="571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9561" y="2224585"/>
            <a:ext cx="3971925" cy="7905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3140" y="3206707"/>
            <a:ext cx="2562225" cy="60007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679" y="4005276"/>
            <a:ext cx="371475" cy="39052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4565" y="3079362"/>
            <a:ext cx="4867275" cy="3162300"/>
          </a:xfrm>
          <a:prstGeom prst="rect">
            <a:avLst/>
          </a:prstGeom>
          <a:ln>
            <a:noFill/>
          </a:ln>
        </p:spPr>
      </p:pic>
      <p:sp>
        <p:nvSpPr>
          <p:cNvPr id="24" name="Arc 23"/>
          <p:cNvSpPr/>
          <p:nvPr/>
        </p:nvSpPr>
        <p:spPr>
          <a:xfrm rot="17216862">
            <a:off x="5913902" y="4065200"/>
            <a:ext cx="612515" cy="1060660"/>
          </a:xfrm>
          <a:prstGeom prst="arc">
            <a:avLst>
              <a:gd name="adj1" fmla="val 16200000"/>
              <a:gd name="adj2" fmla="val 2616443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600" dirty="0"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8226" y="4024833"/>
            <a:ext cx="59256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latin typeface="Calibri" panose="020F0502020204030204" pitchFamily="34" charset="0"/>
              </a:rPr>
              <a:t>Learning:  1. start with some</a:t>
            </a:r>
          </a:p>
          <a:p>
            <a:r>
              <a:rPr lang="nl-NL" sz="2000" dirty="0">
                <a:latin typeface="Calibri" panose="020F0502020204030204" pitchFamily="34" charset="0"/>
              </a:rPr>
              <a:t>                    2. change      to reduce </a:t>
            </a:r>
          </a:p>
          <a:p>
            <a:r>
              <a:rPr lang="nl-NL" sz="2000" dirty="0">
                <a:latin typeface="Calibri" panose="020F0502020204030204" pitchFamily="34" charset="0"/>
              </a:rPr>
              <a:t>                    3. repeat 2. until convergence  </a:t>
            </a:r>
          </a:p>
          <a:p>
            <a:r>
              <a:rPr lang="nl-NL" sz="2000" dirty="0">
                <a:latin typeface="Calibri" panose="020F0502020204030204" pitchFamily="34" charset="0"/>
              </a:rPr>
              <a:t>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1A1BE-F453-F32B-F67A-51606772AF5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linear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776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421270" y="1900695"/>
            <a:ext cx="49326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Does </a:t>
            </a:r>
            <a:r>
              <a:rPr lang="en-GB" i="1" dirty="0">
                <a:latin typeface="Calibri" panose="020F0502020204030204" pitchFamily="34" charset="0"/>
              </a:rPr>
              <a:t>y</a:t>
            </a:r>
            <a:r>
              <a:rPr lang="en-GB" dirty="0">
                <a:latin typeface="Calibri" panose="020F0502020204030204" pitchFamily="34" charset="0"/>
              </a:rPr>
              <a:t> vary linearly with </a:t>
            </a:r>
            <a:r>
              <a:rPr lang="en-GB" i="1" dirty="0">
                <a:latin typeface="Calibri" panose="020F0502020204030204" pitchFamily="34" charset="0"/>
              </a:rPr>
              <a:t>X</a:t>
            </a:r>
            <a:r>
              <a:rPr lang="en-GB" dirty="0">
                <a:latin typeface="Calibri" panose="020F0502020204030204" pitchFamily="34" charset="0"/>
              </a:rPr>
              <a:t>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Can we fit a non-linear model? Yes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Or we could add polynomial transformations of the features.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573" y="3798098"/>
            <a:ext cx="3930516" cy="73204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91" y="1160369"/>
            <a:ext cx="5248275" cy="4895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FFEB7E-0456-047E-1918-72CE2EA103BF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non-linear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579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427526" y="1398339"/>
            <a:ext cx="49326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Does </a:t>
            </a:r>
            <a:r>
              <a:rPr lang="en-GB" i="1" dirty="0">
                <a:latin typeface="Calibri" panose="020F0502020204030204" pitchFamily="34" charset="0"/>
              </a:rPr>
              <a:t>y</a:t>
            </a:r>
            <a:r>
              <a:rPr lang="en-GB" dirty="0">
                <a:latin typeface="Calibri" panose="020F0502020204030204" pitchFamily="34" charset="0"/>
              </a:rPr>
              <a:t> vary linearly with </a:t>
            </a:r>
            <a:r>
              <a:rPr lang="en-GB" i="1" dirty="0">
                <a:latin typeface="Calibri" panose="020F0502020204030204" pitchFamily="34" charset="0"/>
              </a:rPr>
              <a:t>X</a:t>
            </a:r>
            <a:r>
              <a:rPr lang="en-GB" dirty="0">
                <a:latin typeface="Calibri" panose="020F0502020204030204" pitchFamily="34" charset="0"/>
              </a:rPr>
              <a:t>?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Can we fit a non-linear model? Yes</a:t>
            </a: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</a:rPr>
              <a:t>Or we could add polynomial transformations of the features.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434" y="2915521"/>
            <a:ext cx="3324225" cy="619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41" y="1160370"/>
            <a:ext cx="5038725" cy="4895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2F8DD5-4803-47C7-833F-F1372C3B9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1" y="3429000"/>
            <a:ext cx="2940941" cy="26924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1D4FAF-7AE0-781B-E2B6-153EF84F65EE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non-linear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268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926" y="467015"/>
            <a:ext cx="4895850" cy="48196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638" y="5490657"/>
            <a:ext cx="10601325" cy="542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40CDB0-F0A1-A73A-BFB5-925398C23DEE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non-linear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61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330</Words>
  <Application>Microsoft Office PowerPoint</Application>
  <PresentationFormat>Widescreen</PresentationFormat>
  <Paragraphs>108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Freestyle Script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Robbin Bouwmeester</cp:lastModifiedBy>
  <cp:revision>66</cp:revision>
  <dcterms:created xsi:type="dcterms:W3CDTF">2015-04-25T14:39:23Z</dcterms:created>
  <dcterms:modified xsi:type="dcterms:W3CDTF">2026-02-24T15:48:05Z</dcterms:modified>
</cp:coreProperties>
</file>